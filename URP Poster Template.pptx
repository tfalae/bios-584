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43891200" cy="32918400"/>
  <p:notesSz cx="6858000" cy="9144000"/>
  <p:embeddedFontLst>
    <p:embeddedFont>
      <p:font typeface="Calibri (MS)" panose="020B0604020202020204" charset="0"/>
      <p:regular r:id="rId3"/>
    </p:embeddedFont>
    <p:embeddedFont>
      <p:font typeface="Calibri (MS) Bold" panose="020B0604020202020204" charset="0"/>
      <p:regular r:id="rId4"/>
    </p:embeddedFont>
    <p:embeddedFont>
      <p:font typeface="TT Rounds Condensed Bold" panose="020B0604020202020204" charset="0"/>
      <p:regular r:id="rId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9" d="100"/>
          <a:sy n="19" d="100"/>
        </p:scale>
        <p:origin x="1156" y="1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font" Target="fonts/font1.fntdata"/><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font" Target="fonts/font3.fntdata"/><Relationship Id="rId4" Type="http://schemas.openxmlformats.org/officeDocument/2006/relationships/font" Target="fonts/font2.fntdata"/><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2169"/>
        </a:solidFill>
        <a:effectLst/>
      </p:bgPr>
    </p:bg>
    <p:spTree>
      <p:nvGrpSpPr>
        <p:cNvPr id="1" name=""/>
        <p:cNvGrpSpPr/>
        <p:nvPr/>
      </p:nvGrpSpPr>
      <p:grpSpPr>
        <a:xfrm>
          <a:off x="0" y="0"/>
          <a:ext cx="0" cy="0"/>
          <a:chOff x="0" y="0"/>
          <a:chExt cx="0" cy="0"/>
        </a:xfrm>
      </p:grpSpPr>
      <p:sp>
        <p:nvSpPr>
          <p:cNvPr id="2" name="Freeform 2"/>
          <p:cNvSpPr/>
          <p:nvPr/>
        </p:nvSpPr>
        <p:spPr>
          <a:xfrm>
            <a:off x="14467957" y="7155919"/>
            <a:ext cx="14404178" cy="1198597"/>
          </a:xfrm>
          <a:custGeom>
            <a:avLst/>
            <a:gdLst/>
            <a:ahLst/>
            <a:cxnLst/>
            <a:rect l="l" t="t" r="r" b="b"/>
            <a:pathLst>
              <a:path w="14404178" h="1198597">
                <a:moveTo>
                  <a:pt x="0" y="0"/>
                </a:moveTo>
                <a:lnTo>
                  <a:pt x="14404178" y="0"/>
                </a:lnTo>
                <a:lnTo>
                  <a:pt x="14404178" y="1198598"/>
                </a:lnTo>
                <a:lnTo>
                  <a:pt x="0" y="1198598"/>
                </a:lnTo>
                <a:lnTo>
                  <a:pt x="0" y="0"/>
                </a:lnTo>
                <a:close/>
              </a:path>
            </a:pathLst>
          </a:custGeom>
          <a:blipFill>
            <a:blip r:embed="rId2"/>
            <a:stretch>
              <a:fillRect t="-106311" r="-8365" b="-222899"/>
            </a:stretch>
          </a:blipFill>
        </p:spPr>
        <p:txBody>
          <a:bodyPr/>
          <a:lstStyle/>
          <a:p>
            <a:endParaRPr lang="en-US"/>
          </a:p>
        </p:txBody>
      </p:sp>
      <p:grpSp>
        <p:nvGrpSpPr>
          <p:cNvPr id="3" name="Group 3"/>
          <p:cNvGrpSpPr/>
          <p:nvPr/>
        </p:nvGrpSpPr>
        <p:grpSpPr>
          <a:xfrm>
            <a:off x="14070543" y="6789472"/>
            <a:ext cx="14404178" cy="1315889"/>
            <a:chOff x="0" y="0"/>
            <a:chExt cx="17071619" cy="1559572"/>
          </a:xfrm>
        </p:grpSpPr>
        <p:sp>
          <p:nvSpPr>
            <p:cNvPr id="4" name="Freeform 4"/>
            <p:cNvSpPr/>
            <p:nvPr/>
          </p:nvSpPr>
          <p:spPr>
            <a:xfrm>
              <a:off x="0" y="0"/>
              <a:ext cx="17071594" cy="1559560"/>
            </a:xfrm>
            <a:custGeom>
              <a:avLst/>
              <a:gdLst/>
              <a:ahLst/>
              <a:cxnLst/>
              <a:rect l="l" t="t" r="r" b="b"/>
              <a:pathLst>
                <a:path w="17071594" h="1559560">
                  <a:moveTo>
                    <a:pt x="0" y="0"/>
                  </a:moveTo>
                  <a:lnTo>
                    <a:pt x="17071594" y="0"/>
                  </a:lnTo>
                  <a:lnTo>
                    <a:pt x="17071594" y="1559560"/>
                  </a:lnTo>
                  <a:lnTo>
                    <a:pt x="0" y="1559560"/>
                  </a:lnTo>
                  <a:close/>
                </a:path>
              </a:pathLst>
            </a:custGeom>
            <a:solidFill>
              <a:srgbClr val="F2A900"/>
            </a:solidFill>
          </p:spPr>
          <p:txBody>
            <a:bodyPr/>
            <a:lstStyle/>
            <a:p>
              <a:endParaRPr lang="en-US"/>
            </a:p>
          </p:txBody>
        </p:sp>
        <p:sp>
          <p:nvSpPr>
            <p:cNvPr id="5" name="TextBox 5"/>
            <p:cNvSpPr txBox="1"/>
            <p:nvPr/>
          </p:nvSpPr>
          <p:spPr>
            <a:xfrm>
              <a:off x="0" y="0"/>
              <a:ext cx="17071619" cy="1559572"/>
            </a:xfrm>
            <a:prstGeom prst="rect">
              <a:avLst/>
            </a:prstGeom>
          </p:spPr>
          <p:txBody>
            <a:bodyPr lIns="57150" tIns="57150" rIns="57150" bIns="57150" rtlCol="0" anchor="t"/>
            <a:lstStyle/>
            <a:p>
              <a:pPr algn="ctr">
                <a:lnSpc>
                  <a:spcPts val="7087"/>
                </a:lnSpc>
              </a:pPr>
              <a:r>
                <a:rPr lang="en-US" sz="5906" spc="55">
                  <a:solidFill>
                    <a:srgbClr val="000000"/>
                  </a:solidFill>
                  <a:latin typeface="TT Rounds Condensed Bold"/>
                </a:rPr>
                <a:t>Results</a:t>
              </a:r>
            </a:p>
            <a:p>
              <a:pPr algn="ctr">
                <a:lnSpc>
                  <a:spcPts val="7087"/>
                </a:lnSpc>
              </a:pPr>
              <a:endParaRPr lang="en-US" sz="5906" spc="55">
                <a:solidFill>
                  <a:srgbClr val="000000"/>
                </a:solidFill>
                <a:latin typeface="TT Rounds Condensed Bold"/>
              </a:endParaRPr>
            </a:p>
          </p:txBody>
        </p:sp>
      </p:grpSp>
      <p:grpSp>
        <p:nvGrpSpPr>
          <p:cNvPr id="6" name="Group 6"/>
          <p:cNvGrpSpPr/>
          <p:nvPr/>
        </p:nvGrpSpPr>
        <p:grpSpPr>
          <a:xfrm>
            <a:off x="15112516" y="8581611"/>
            <a:ext cx="12320232" cy="9634368"/>
            <a:chOff x="0" y="0"/>
            <a:chExt cx="14601756" cy="11418511"/>
          </a:xfrm>
        </p:grpSpPr>
        <p:sp>
          <p:nvSpPr>
            <p:cNvPr id="7" name="Freeform 7"/>
            <p:cNvSpPr/>
            <p:nvPr/>
          </p:nvSpPr>
          <p:spPr>
            <a:xfrm>
              <a:off x="0" y="0"/>
              <a:ext cx="14601698" cy="11418570"/>
            </a:xfrm>
            <a:custGeom>
              <a:avLst/>
              <a:gdLst/>
              <a:ahLst/>
              <a:cxnLst/>
              <a:rect l="l" t="t" r="r" b="b"/>
              <a:pathLst>
                <a:path w="14601698" h="11418570">
                  <a:moveTo>
                    <a:pt x="0" y="0"/>
                  </a:moveTo>
                  <a:lnTo>
                    <a:pt x="14601698" y="0"/>
                  </a:lnTo>
                  <a:lnTo>
                    <a:pt x="14601698" y="11418570"/>
                  </a:lnTo>
                  <a:lnTo>
                    <a:pt x="0" y="11418570"/>
                  </a:lnTo>
                  <a:close/>
                </a:path>
              </a:pathLst>
            </a:custGeom>
            <a:solidFill>
              <a:srgbClr val="FFFFFF">
                <a:alpha val="67843"/>
              </a:srgbClr>
            </a:solidFill>
          </p:spPr>
          <p:txBody>
            <a:bodyPr/>
            <a:lstStyle/>
            <a:p>
              <a:endParaRPr lang="en-US"/>
            </a:p>
          </p:txBody>
        </p:sp>
        <p:sp>
          <p:nvSpPr>
            <p:cNvPr id="8" name="TextBox 8"/>
            <p:cNvSpPr txBox="1"/>
            <p:nvPr/>
          </p:nvSpPr>
          <p:spPr>
            <a:xfrm>
              <a:off x="0" y="-114300"/>
              <a:ext cx="14601756" cy="11532811"/>
            </a:xfrm>
            <a:prstGeom prst="rect">
              <a:avLst/>
            </a:prstGeom>
          </p:spPr>
          <p:txBody>
            <a:bodyPr lIns="57150" tIns="57150" rIns="57150" bIns="57150" rtlCol="0" anchor="t"/>
            <a:lstStyle/>
            <a:p>
              <a:pPr algn="l">
                <a:lnSpc>
                  <a:spcPts val="6378"/>
                </a:lnSpc>
              </a:pPr>
              <a:r>
                <a:rPr lang="en-US" sz="5315" spc="49">
                  <a:solidFill>
                    <a:srgbClr val="000000"/>
                  </a:solidFill>
                  <a:latin typeface="Calibri (MS)"/>
                </a:rPr>
                <a:t>What is the central research problem or question you have been helping to explore?</a:t>
              </a:r>
            </a:p>
            <a:p>
              <a:pPr algn="l">
                <a:lnSpc>
                  <a:spcPts val="6378"/>
                </a:lnSpc>
              </a:pPr>
              <a:endParaRPr lang="en-US" sz="5315" spc="49">
                <a:solidFill>
                  <a:srgbClr val="000000"/>
                </a:solidFill>
                <a:latin typeface="Calibri (MS)"/>
              </a:endParaRPr>
            </a:p>
            <a:p>
              <a:pPr algn="l">
                <a:lnSpc>
                  <a:spcPts val="6378"/>
                </a:lnSpc>
              </a:pPr>
              <a:r>
                <a:rPr lang="en-US" sz="5315" spc="49">
                  <a:solidFill>
                    <a:srgbClr val="000000"/>
                  </a:solidFill>
                  <a:latin typeface="Calibri (MS)"/>
                </a:rPr>
                <a:t>What work has been done previously in this area?</a:t>
              </a:r>
            </a:p>
            <a:p>
              <a:pPr algn="l">
                <a:lnSpc>
                  <a:spcPts val="6378"/>
                </a:lnSpc>
              </a:pPr>
              <a:endParaRPr lang="en-US" sz="5315" spc="49">
                <a:solidFill>
                  <a:srgbClr val="000000"/>
                </a:solidFill>
                <a:latin typeface="Calibri (MS)"/>
              </a:endParaRPr>
            </a:p>
            <a:p>
              <a:pPr algn="l">
                <a:lnSpc>
                  <a:spcPts val="6378"/>
                </a:lnSpc>
              </a:pPr>
              <a:r>
                <a:rPr lang="en-US" sz="5315" spc="49">
                  <a:solidFill>
                    <a:srgbClr val="000000"/>
                  </a:solidFill>
                  <a:latin typeface="Calibri (MS)"/>
                </a:rPr>
                <a:t>This section can be a review of the literature that has been most important in your research area</a:t>
              </a:r>
            </a:p>
            <a:p>
              <a:pPr algn="l">
                <a:lnSpc>
                  <a:spcPts val="6378"/>
                </a:lnSpc>
              </a:pPr>
              <a:endParaRPr lang="en-US" sz="5315" spc="49">
                <a:solidFill>
                  <a:srgbClr val="000000"/>
                </a:solidFill>
                <a:latin typeface="Calibri (MS)"/>
              </a:endParaRPr>
            </a:p>
          </p:txBody>
        </p:sp>
      </p:grpSp>
      <p:sp>
        <p:nvSpPr>
          <p:cNvPr id="9" name="Freeform 9"/>
          <p:cNvSpPr/>
          <p:nvPr/>
        </p:nvSpPr>
        <p:spPr>
          <a:xfrm>
            <a:off x="1422291" y="7155919"/>
            <a:ext cx="12354746" cy="1198597"/>
          </a:xfrm>
          <a:custGeom>
            <a:avLst/>
            <a:gdLst/>
            <a:ahLst/>
            <a:cxnLst/>
            <a:rect l="l" t="t" r="r" b="b"/>
            <a:pathLst>
              <a:path w="12354746" h="1198597">
                <a:moveTo>
                  <a:pt x="0" y="0"/>
                </a:moveTo>
                <a:lnTo>
                  <a:pt x="12354746" y="0"/>
                </a:lnTo>
                <a:lnTo>
                  <a:pt x="12354746" y="1198598"/>
                </a:lnTo>
                <a:lnTo>
                  <a:pt x="0" y="1198598"/>
                </a:lnTo>
                <a:lnTo>
                  <a:pt x="0" y="0"/>
                </a:lnTo>
                <a:close/>
              </a:path>
            </a:pathLst>
          </a:custGeom>
          <a:blipFill>
            <a:blip r:embed="rId2"/>
            <a:stretch>
              <a:fillRect t="-84071" r="-8365" b="-184071"/>
            </a:stretch>
          </a:blipFill>
        </p:spPr>
        <p:txBody>
          <a:bodyPr/>
          <a:lstStyle/>
          <a:p>
            <a:endParaRPr lang="en-US"/>
          </a:p>
        </p:txBody>
      </p:sp>
      <p:grpSp>
        <p:nvGrpSpPr>
          <p:cNvPr id="10" name="Group 10"/>
          <p:cNvGrpSpPr/>
          <p:nvPr/>
        </p:nvGrpSpPr>
        <p:grpSpPr>
          <a:xfrm>
            <a:off x="1029997" y="6789472"/>
            <a:ext cx="12355566" cy="1363354"/>
            <a:chOff x="0" y="0"/>
            <a:chExt cx="14643633" cy="1615827"/>
          </a:xfrm>
        </p:grpSpPr>
        <p:sp>
          <p:nvSpPr>
            <p:cNvPr id="11" name="Freeform 11"/>
            <p:cNvSpPr/>
            <p:nvPr/>
          </p:nvSpPr>
          <p:spPr>
            <a:xfrm>
              <a:off x="0" y="0"/>
              <a:ext cx="14643608" cy="1615821"/>
            </a:xfrm>
            <a:custGeom>
              <a:avLst/>
              <a:gdLst/>
              <a:ahLst/>
              <a:cxnLst/>
              <a:rect l="l" t="t" r="r" b="b"/>
              <a:pathLst>
                <a:path w="14643608" h="1615821">
                  <a:moveTo>
                    <a:pt x="0" y="0"/>
                  </a:moveTo>
                  <a:lnTo>
                    <a:pt x="14643608" y="0"/>
                  </a:lnTo>
                  <a:lnTo>
                    <a:pt x="14643608" y="1615821"/>
                  </a:lnTo>
                  <a:lnTo>
                    <a:pt x="0" y="1615821"/>
                  </a:lnTo>
                  <a:close/>
                </a:path>
              </a:pathLst>
            </a:custGeom>
            <a:solidFill>
              <a:srgbClr val="F2A900"/>
            </a:solidFill>
          </p:spPr>
          <p:txBody>
            <a:bodyPr/>
            <a:lstStyle/>
            <a:p>
              <a:endParaRPr lang="en-US"/>
            </a:p>
          </p:txBody>
        </p:sp>
        <p:sp>
          <p:nvSpPr>
            <p:cNvPr id="12" name="TextBox 12"/>
            <p:cNvSpPr txBox="1"/>
            <p:nvPr/>
          </p:nvSpPr>
          <p:spPr>
            <a:xfrm>
              <a:off x="0" y="-123825"/>
              <a:ext cx="14643633" cy="1739652"/>
            </a:xfrm>
            <a:prstGeom prst="rect">
              <a:avLst/>
            </a:prstGeom>
          </p:spPr>
          <p:txBody>
            <a:bodyPr lIns="57150" tIns="57150" rIns="57150" bIns="57150" rtlCol="0" anchor="ctr"/>
            <a:lstStyle/>
            <a:p>
              <a:pPr algn="ctr">
                <a:lnSpc>
                  <a:spcPts val="7087"/>
                </a:lnSpc>
              </a:pPr>
              <a:r>
                <a:rPr lang="en-US" sz="5906" spc="55">
                  <a:solidFill>
                    <a:srgbClr val="000000"/>
                  </a:solidFill>
                  <a:latin typeface="Calibri (MS) Bold"/>
                </a:rPr>
                <a:t>Abstract/Intro/Motivation</a:t>
              </a:r>
            </a:p>
          </p:txBody>
        </p:sp>
      </p:grpSp>
      <p:sp>
        <p:nvSpPr>
          <p:cNvPr id="13" name="Freeform 13"/>
          <p:cNvSpPr/>
          <p:nvPr/>
        </p:nvSpPr>
        <p:spPr>
          <a:xfrm>
            <a:off x="1029997" y="19121142"/>
            <a:ext cx="12548332" cy="1570072"/>
          </a:xfrm>
          <a:custGeom>
            <a:avLst/>
            <a:gdLst/>
            <a:ahLst/>
            <a:cxnLst/>
            <a:rect l="l" t="t" r="r" b="b"/>
            <a:pathLst>
              <a:path w="12548332" h="1570072">
                <a:moveTo>
                  <a:pt x="0" y="0"/>
                </a:moveTo>
                <a:lnTo>
                  <a:pt x="12548332" y="0"/>
                </a:lnTo>
                <a:lnTo>
                  <a:pt x="12548332" y="1570073"/>
                </a:lnTo>
                <a:lnTo>
                  <a:pt x="0" y="1570073"/>
                </a:lnTo>
                <a:lnTo>
                  <a:pt x="0" y="0"/>
                </a:lnTo>
                <a:close/>
              </a:path>
            </a:pathLst>
          </a:custGeom>
          <a:blipFill>
            <a:blip r:embed="rId2"/>
            <a:stretch>
              <a:fillRect t="-57498" r="-24392" b="-170162"/>
            </a:stretch>
          </a:blipFill>
        </p:spPr>
        <p:txBody>
          <a:bodyPr/>
          <a:lstStyle/>
          <a:p>
            <a:endParaRPr lang="en-US"/>
          </a:p>
        </p:txBody>
      </p:sp>
      <p:grpSp>
        <p:nvGrpSpPr>
          <p:cNvPr id="14" name="Group 14"/>
          <p:cNvGrpSpPr/>
          <p:nvPr/>
        </p:nvGrpSpPr>
        <p:grpSpPr>
          <a:xfrm>
            <a:off x="1029997" y="19087315"/>
            <a:ext cx="12229688" cy="1363354"/>
            <a:chOff x="0" y="0"/>
            <a:chExt cx="14494445" cy="1615827"/>
          </a:xfrm>
        </p:grpSpPr>
        <p:sp>
          <p:nvSpPr>
            <p:cNvPr id="15" name="Freeform 15"/>
            <p:cNvSpPr/>
            <p:nvPr/>
          </p:nvSpPr>
          <p:spPr>
            <a:xfrm>
              <a:off x="0" y="0"/>
              <a:ext cx="14494421" cy="1615821"/>
            </a:xfrm>
            <a:custGeom>
              <a:avLst/>
              <a:gdLst/>
              <a:ahLst/>
              <a:cxnLst/>
              <a:rect l="l" t="t" r="r" b="b"/>
              <a:pathLst>
                <a:path w="14494421" h="1615821">
                  <a:moveTo>
                    <a:pt x="0" y="0"/>
                  </a:moveTo>
                  <a:lnTo>
                    <a:pt x="14494421" y="0"/>
                  </a:lnTo>
                  <a:lnTo>
                    <a:pt x="14494421" y="1615821"/>
                  </a:lnTo>
                  <a:lnTo>
                    <a:pt x="0" y="1615821"/>
                  </a:lnTo>
                  <a:close/>
                </a:path>
              </a:pathLst>
            </a:custGeom>
            <a:solidFill>
              <a:srgbClr val="F2A900"/>
            </a:solidFill>
          </p:spPr>
          <p:txBody>
            <a:bodyPr/>
            <a:lstStyle/>
            <a:p>
              <a:endParaRPr lang="en-US"/>
            </a:p>
          </p:txBody>
        </p:sp>
        <p:sp>
          <p:nvSpPr>
            <p:cNvPr id="16" name="TextBox 16"/>
            <p:cNvSpPr txBox="1"/>
            <p:nvPr/>
          </p:nvSpPr>
          <p:spPr>
            <a:xfrm>
              <a:off x="0" y="-123825"/>
              <a:ext cx="14494445" cy="1739652"/>
            </a:xfrm>
            <a:prstGeom prst="rect">
              <a:avLst/>
            </a:prstGeom>
          </p:spPr>
          <p:txBody>
            <a:bodyPr lIns="57150" tIns="57150" rIns="57150" bIns="57150" rtlCol="0" anchor="ctr"/>
            <a:lstStyle/>
            <a:p>
              <a:pPr algn="ctr">
                <a:lnSpc>
                  <a:spcPts val="7087"/>
                </a:lnSpc>
              </a:pPr>
              <a:r>
                <a:rPr lang="en-US" sz="5906" spc="55">
                  <a:solidFill>
                    <a:srgbClr val="000000"/>
                  </a:solidFill>
                  <a:latin typeface="Calibri (MS) Bold"/>
                </a:rPr>
                <a:t>Methods/Approach</a:t>
              </a:r>
            </a:p>
          </p:txBody>
        </p:sp>
      </p:grpSp>
      <p:sp>
        <p:nvSpPr>
          <p:cNvPr id="17" name="Freeform 17"/>
          <p:cNvSpPr/>
          <p:nvPr/>
        </p:nvSpPr>
        <p:spPr>
          <a:xfrm>
            <a:off x="28474721" y="7155919"/>
            <a:ext cx="14728235" cy="1198597"/>
          </a:xfrm>
          <a:custGeom>
            <a:avLst/>
            <a:gdLst/>
            <a:ahLst/>
            <a:cxnLst/>
            <a:rect l="l" t="t" r="r" b="b"/>
            <a:pathLst>
              <a:path w="14728235" h="1198597">
                <a:moveTo>
                  <a:pt x="0" y="0"/>
                </a:moveTo>
                <a:lnTo>
                  <a:pt x="14728234" y="0"/>
                </a:lnTo>
                <a:lnTo>
                  <a:pt x="14728234" y="1198598"/>
                </a:lnTo>
                <a:lnTo>
                  <a:pt x="0" y="1198598"/>
                </a:lnTo>
                <a:lnTo>
                  <a:pt x="0" y="0"/>
                </a:lnTo>
                <a:close/>
              </a:path>
            </a:pathLst>
          </a:custGeom>
          <a:blipFill>
            <a:blip r:embed="rId2"/>
            <a:stretch>
              <a:fillRect t="-113699" r="-10990" b="-235797"/>
            </a:stretch>
          </a:blipFill>
        </p:spPr>
        <p:txBody>
          <a:bodyPr/>
          <a:lstStyle/>
          <a:p>
            <a:endParaRPr lang="en-US"/>
          </a:p>
        </p:txBody>
      </p:sp>
      <p:grpSp>
        <p:nvGrpSpPr>
          <p:cNvPr id="18" name="Group 18"/>
          <p:cNvGrpSpPr/>
          <p:nvPr/>
        </p:nvGrpSpPr>
        <p:grpSpPr>
          <a:xfrm>
            <a:off x="29159701" y="6789472"/>
            <a:ext cx="13701502" cy="1363354"/>
            <a:chOff x="0" y="0"/>
            <a:chExt cx="16238817" cy="1615827"/>
          </a:xfrm>
        </p:grpSpPr>
        <p:sp>
          <p:nvSpPr>
            <p:cNvPr id="19" name="Freeform 19"/>
            <p:cNvSpPr/>
            <p:nvPr/>
          </p:nvSpPr>
          <p:spPr>
            <a:xfrm>
              <a:off x="0" y="0"/>
              <a:ext cx="16238855" cy="1615821"/>
            </a:xfrm>
            <a:custGeom>
              <a:avLst/>
              <a:gdLst/>
              <a:ahLst/>
              <a:cxnLst/>
              <a:rect l="l" t="t" r="r" b="b"/>
              <a:pathLst>
                <a:path w="16238855" h="1615821">
                  <a:moveTo>
                    <a:pt x="0" y="0"/>
                  </a:moveTo>
                  <a:lnTo>
                    <a:pt x="16238855" y="0"/>
                  </a:lnTo>
                  <a:lnTo>
                    <a:pt x="16238855" y="1615821"/>
                  </a:lnTo>
                  <a:lnTo>
                    <a:pt x="0" y="1615821"/>
                  </a:lnTo>
                  <a:close/>
                </a:path>
              </a:pathLst>
            </a:custGeom>
            <a:solidFill>
              <a:srgbClr val="F2A900"/>
            </a:solidFill>
          </p:spPr>
          <p:txBody>
            <a:bodyPr/>
            <a:lstStyle/>
            <a:p>
              <a:endParaRPr lang="en-US"/>
            </a:p>
          </p:txBody>
        </p:sp>
        <p:sp>
          <p:nvSpPr>
            <p:cNvPr id="20" name="TextBox 20"/>
            <p:cNvSpPr txBox="1"/>
            <p:nvPr/>
          </p:nvSpPr>
          <p:spPr>
            <a:xfrm>
              <a:off x="0" y="0"/>
              <a:ext cx="16238817" cy="1615827"/>
            </a:xfrm>
            <a:prstGeom prst="rect">
              <a:avLst/>
            </a:prstGeom>
          </p:spPr>
          <p:txBody>
            <a:bodyPr lIns="57150" tIns="57150" rIns="57150" bIns="57150" rtlCol="0" anchor="t"/>
            <a:lstStyle/>
            <a:p>
              <a:pPr algn="ctr">
                <a:lnSpc>
                  <a:spcPts val="7087"/>
                </a:lnSpc>
              </a:pPr>
              <a:r>
                <a:rPr lang="en-US" sz="5906" spc="55">
                  <a:solidFill>
                    <a:srgbClr val="000000"/>
                  </a:solidFill>
                  <a:latin typeface="TT Rounds Condensed Bold"/>
                </a:rPr>
                <a:t>Conclusions/Future Directions</a:t>
              </a:r>
            </a:p>
          </p:txBody>
        </p:sp>
      </p:grpSp>
      <p:grpSp>
        <p:nvGrpSpPr>
          <p:cNvPr id="21" name="Group 21"/>
          <p:cNvGrpSpPr/>
          <p:nvPr/>
        </p:nvGrpSpPr>
        <p:grpSpPr>
          <a:xfrm>
            <a:off x="29142768" y="8427246"/>
            <a:ext cx="13979054" cy="17229543"/>
            <a:chOff x="-116225" y="-192988"/>
            <a:chExt cx="16567768" cy="20420199"/>
          </a:xfrm>
        </p:grpSpPr>
        <p:sp>
          <p:nvSpPr>
            <p:cNvPr id="22" name="Freeform 22"/>
            <p:cNvSpPr/>
            <p:nvPr/>
          </p:nvSpPr>
          <p:spPr>
            <a:xfrm>
              <a:off x="-116225" y="-192988"/>
              <a:ext cx="16451599" cy="20227161"/>
            </a:xfrm>
            <a:custGeom>
              <a:avLst/>
              <a:gdLst/>
              <a:ahLst/>
              <a:cxnLst/>
              <a:rect l="l" t="t" r="r" b="b"/>
              <a:pathLst>
                <a:path w="16451599" h="20227161">
                  <a:moveTo>
                    <a:pt x="0" y="0"/>
                  </a:moveTo>
                  <a:lnTo>
                    <a:pt x="16451599" y="0"/>
                  </a:lnTo>
                  <a:lnTo>
                    <a:pt x="16451599" y="20227161"/>
                  </a:lnTo>
                  <a:lnTo>
                    <a:pt x="0" y="20227161"/>
                  </a:lnTo>
                  <a:close/>
                </a:path>
              </a:pathLst>
            </a:custGeom>
            <a:solidFill>
              <a:srgbClr val="FFFFFF"/>
            </a:solidFill>
          </p:spPr>
          <p:txBody>
            <a:bodyPr/>
            <a:lstStyle/>
            <a:p>
              <a:endParaRPr lang="en-US"/>
            </a:p>
          </p:txBody>
        </p:sp>
        <p:sp>
          <p:nvSpPr>
            <p:cNvPr id="23" name="TextBox 23"/>
            <p:cNvSpPr txBox="1"/>
            <p:nvPr/>
          </p:nvSpPr>
          <p:spPr>
            <a:xfrm>
              <a:off x="0" y="-114300"/>
              <a:ext cx="16451543" cy="20341511"/>
            </a:xfrm>
            <a:prstGeom prst="rect">
              <a:avLst/>
            </a:prstGeom>
          </p:spPr>
          <p:txBody>
            <a:bodyPr lIns="57150" tIns="57150" rIns="57150" bIns="57150" rtlCol="0" anchor="t"/>
            <a:lstStyle/>
            <a:p>
              <a:pPr>
                <a:lnSpc>
                  <a:spcPts val="6378"/>
                </a:lnSpc>
              </a:pPr>
              <a:r>
                <a:rPr lang="en-US" sz="6000" dirty="0"/>
                <a:t>Higher diet quality was associated with a lower prevalence of hypertension, though associations did not reach statistical significance after adjustment. These findings suggest that overall dietary patterns may play a protective role in hypertension risk. Larger and longitudinal studies are needed to further evaluate the relationship between diet quality and blood pressure outcomes.</a:t>
              </a:r>
              <a:endParaRPr lang="en-US" sz="6000" spc="49" dirty="0">
                <a:solidFill>
                  <a:srgbClr val="000000"/>
                </a:solidFill>
                <a:latin typeface="Calibri (MS)"/>
              </a:endParaRPr>
            </a:p>
            <a:p>
              <a:pPr algn="l">
                <a:lnSpc>
                  <a:spcPts val="6378"/>
                </a:lnSpc>
              </a:pPr>
              <a:endParaRPr lang="en-US" sz="5315" spc="49" dirty="0">
                <a:solidFill>
                  <a:srgbClr val="000000"/>
                </a:solidFill>
                <a:latin typeface="Calibri (MS)"/>
              </a:endParaRPr>
            </a:p>
            <a:p>
              <a:pPr algn="l">
                <a:lnSpc>
                  <a:spcPts val="6378"/>
                </a:lnSpc>
              </a:pPr>
              <a:endParaRPr lang="en-US" sz="5315" spc="49" dirty="0">
                <a:solidFill>
                  <a:srgbClr val="000000"/>
                </a:solidFill>
                <a:latin typeface="Calibri (MS)"/>
              </a:endParaRPr>
            </a:p>
            <a:p>
              <a:pPr algn="l">
                <a:lnSpc>
                  <a:spcPts val="6378"/>
                </a:lnSpc>
              </a:pPr>
              <a:endParaRPr lang="en-US" sz="5315" spc="49" dirty="0">
                <a:solidFill>
                  <a:srgbClr val="000000"/>
                </a:solidFill>
                <a:latin typeface="Calibri (MS)"/>
              </a:endParaRPr>
            </a:p>
            <a:p>
              <a:pPr algn="l">
                <a:lnSpc>
                  <a:spcPts val="6378"/>
                </a:lnSpc>
              </a:pPr>
              <a:endParaRPr lang="en-US" sz="5315" spc="49" dirty="0">
                <a:solidFill>
                  <a:srgbClr val="000000"/>
                </a:solidFill>
                <a:latin typeface="Calibri (MS)"/>
              </a:endParaRPr>
            </a:p>
          </p:txBody>
        </p:sp>
      </p:grpSp>
      <p:sp>
        <p:nvSpPr>
          <p:cNvPr id="24" name="Freeform 24"/>
          <p:cNvSpPr/>
          <p:nvPr/>
        </p:nvSpPr>
        <p:spPr>
          <a:xfrm>
            <a:off x="28872135" y="26359343"/>
            <a:ext cx="14597573" cy="1458069"/>
          </a:xfrm>
          <a:custGeom>
            <a:avLst/>
            <a:gdLst/>
            <a:ahLst/>
            <a:cxnLst/>
            <a:rect l="l" t="t" r="r" b="b"/>
            <a:pathLst>
              <a:path w="14597573" h="1458069">
                <a:moveTo>
                  <a:pt x="0" y="0"/>
                </a:moveTo>
                <a:lnTo>
                  <a:pt x="14597573" y="0"/>
                </a:lnTo>
                <a:lnTo>
                  <a:pt x="14597573" y="1458069"/>
                </a:lnTo>
                <a:lnTo>
                  <a:pt x="0" y="1458069"/>
                </a:lnTo>
                <a:lnTo>
                  <a:pt x="0" y="0"/>
                </a:lnTo>
                <a:close/>
              </a:path>
            </a:pathLst>
          </a:custGeom>
          <a:blipFill>
            <a:blip r:embed="rId2"/>
            <a:stretch>
              <a:fillRect t="-72516" r="-9540" b="-188927"/>
            </a:stretch>
          </a:blipFill>
        </p:spPr>
        <p:txBody>
          <a:bodyPr/>
          <a:lstStyle/>
          <a:p>
            <a:endParaRPr lang="en-US"/>
          </a:p>
        </p:txBody>
      </p:sp>
      <p:grpSp>
        <p:nvGrpSpPr>
          <p:cNvPr id="25" name="Group 25"/>
          <p:cNvGrpSpPr/>
          <p:nvPr/>
        </p:nvGrpSpPr>
        <p:grpSpPr>
          <a:xfrm>
            <a:off x="29159701" y="26161614"/>
            <a:ext cx="13962122" cy="1401158"/>
            <a:chOff x="0" y="0"/>
            <a:chExt cx="16547700" cy="1660631"/>
          </a:xfrm>
        </p:grpSpPr>
        <p:sp>
          <p:nvSpPr>
            <p:cNvPr id="26" name="Freeform 26"/>
            <p:cNvSpPr/>
            <p:nvPr/>
          </p:nvSpPr>
          <p:spPr>
            <a:xfrm>
              <a:off x="0" y="0"/>
              <a:ext cx="16547739" cy="1660655"/>
            </a:xfrm>
            <a:custGeom>
              <a:avLst/>
              <a:gdLst/>
              <a:ahLst/>
              <a:cxnLst/>
              <a:rect l="l" t="t" r="r" b="b"/>
              <a:pathLst>
                <a:path w="16547739" h="1660655">
                  <a:moveTo>
                    <a:pt x="0" y="0"/>
                  </a:moveTo>
                  <a:lnTo>
                    <a:pt x="16547739" y="0"/>
                  </a:lnTo>
                  <a:lnTo>
                    <a:pt x="16547739" y="1660655"/>
                  </a:lnTo>
                  <a:lnTo>
                    <a:pt x="0" y="1660655"/>
                  </a:lnTo>
                  <a:close/>
                </a:path>
              </a:pathLst>
            </a:custGeom>
            <a:solidFill>
              <a:srgbClr val="F2A900"/>
            </a:solidFill>
          </p:spPr>
          <p:txBody>
            <a:bodyPr/>
            <a:lstStyle/>
            <a:p>
              <a:endParaRPr lang="en-US"/>
            </a:p>
          </p:txBody>
        </p:sp>
        <p:sp>
          <p:nvSpPr>
            <p:cNvPr id="27" name="TextBox 27"/>
            <p:cNvSpPr txBox="1"/>
            <p:nvPr/>
          </p:nvSpPr>
          <p:spPr>
            <a:xfrm>
              <a:off x="0" y="-123825"/>
              <a:ext cx="16547700" cy="1784456"/>
            </a:xfrm>
            <a:prstGeom prst="rect">
              <a:avLst/>
            </a:prstGeom>
          </p:spPr>
          <p:txBody>
            <a:bodyPr lIns="57150" tIns="57150" rIns="57150" bIns="57150" rtlCol="0" anchor="ctr"/>
            <a:lstStyle/>
            <a:p>
              <a:pPr algn="ctr">
                <a:lnSpc>
                  <a:spcPts val="7087"/>
                </a:lnSpc>
              </a:pPr>
              <a:r>
                <a:rPr lang="en-US" sz="5906" spc="55">
                  <a:solidFill>
                    <a:srgbClr val="000000"/>
                  </a:solidFill>
                  <a:latin typeface="Calibri (MS) Bold"/>
                </a:rPr>
                <a:t>Acknowledgements</a:t>
              </a:r>
            </a:p>
          </p:txBody>
        </p:sp>
      </p:grpSp>
      <p:sp>
        <p:nvSpPr>
          <p:cNvPr id="28" name="Freeform 28"/>
          <p:cNvSpPr/>
          <p:nvPr/>
        </p:nvSpPr>
        <p:spPr>
          <a:xfrm>
            <a:off x="1029997" y="666999"/>
            <a:ext cx="6114844" cy="5188882"/>
          </a:xfrm>
          <a:custGeom>
            <a:avLst/>
            <a:gdLst/>
            <a:ahLst/>
            <a:cxnLst/>
            <a:rect l="l" t="t" r="r" b="b"/>
            <a:pathLst>
              <a:path w="6114844" h="5188882">
                <a:moveTo>
                  <a:pt x="0" y="0"/>
                </a:moveTo>
                <a:lnTo>
                  <a:pt x="6114844" y="0"/>
                </a:lnTo>
                <a:lnTo>
                  <a:pt x="6114844" y="5188882"/>
                </a:lnTo>
                <a:lnTo>
                  <a:pt x="0" y="5188882"/>
                </a:lnTo>
                <a:lnTo>
                  <a:pt x="0" y="0"/>
                </a:lnTo>
                <a:close/>
              </a:path>
            </a:pathLst>
          </a:custGeom>
          <a:blipFill>
            <a:blip r:embed="rId3"/>
            <a:stretch>
              <a:fillRect/>
            </a:stretch>
          </a:blipFill>
        </p:spPr>
        <p:txBody>
          <a:bodyPr/>
          <a:lstStyle/>
          <a:p>
            <a:endParaRPr lang="en-US"/>
          </a:p>
        </p:txBody>
      </p:sp>
      <p:grpSp>
        <p:nvGrpSpPr>
          <p:cNvPr id="29" name="Group 29"/>
          <p:cNvGrpSpPr/>
          <p:nvPr/>
        </p:nvGrpSpPr>
        <p:grpSpPr>
          <a:xfrm>
            <a:off x="14104512" y="8337349"/>
            <a:ext cx="14424461" cy="23239786"/>
            <a:chOff x="0" y="0"/>
            <a:chExt cx="17095658" cy="27543451"/>
          </a:xfrm>
        </p:grpSpPr>
        <p:sp>
          <p:nvSpPr>
            <p:cNvPr id="30" name="Freeform 30"/>
            <p:cNvSpPr/>
            <p:nvPr/>
          </p:nvSpPr>
          <p:spPr>
            <a:xfrm>
              <a:off x="0" y="0"/>
              <a:ext cx="17095713" cy="27543382"/>
            </a:xfrm>
            <a:custGeom>
              <a:avLst/>
              <a:gdLst/>
              <a:ahLst/>
              <a:cxnLst/>
              <a:rect l="l" t="t" r="r" b="b"/>
              <a:pathLst>
                <a:path w="17095713" h="27543382">
                  <a:moveTo>
                    <a:pt x="0" y="0"/>
                  </a:moveTo>
                  <a:lnTo>
                    <a:pt x="17095713" y="0"/>
                  </a:lnTo>
                  <a:lnTo>
                    <a:pt x="17095713" y="27543382"/>
                  </a:lnTo>
                  <a:lnTo>
                    <a:pt x="0" y="27543382"/>
                  </a:lnTo>
                  <a:close/>
                </a:path>
              </a:pathLst>
            </a:custGeom>
            <a:solidFill>
              <a:srgbClr val="FFFFFF"/>
            </a:solidFill>
          </p:spPr>
          <p:txBody>
            <a:bodyPr/>
            <a:lstStyle/>
            <a:p>
              <a:endParaRPr lang="en-US"/>
            </a:p>
          </p:txBody>
        </p:sp>
        <p:sp>
          <p:nvSpPr>
            <p:cNvPr id="31" name="TextBox 31"/>
            <p:cNvSpPr txBox="1"/>
            <p:nvPr/>
          </p:nvSpPr>
          <p:spPr>
            <a:xfrm>
              <a:off x="0" y="-114300"/>
              <a:ext cx="17095658" cy="27657751"/>
            </a:xfrm>
            <a:prstGeom prst="rect">
              <a:avLst/>
            </a:prstGeom>
          </p:spPr>
          <p:txBody>
            <a:bodyPr lIns="57150" tIns="57150" rIns="57150" bIns="57150" rtlCol="0" anchor="t"/>
            <a:lstStyle/>
            <a:p>
              <a:pPr>
                <a:lnSpc>
                  <a:spcPts val="6378"/>
                </a:lnSpc>
              </a:pPr>
              <a:r>
                <a:rPr lang="en-US" sz="5400" dirty="0"/>
                <a:t>Hypertension prevalence exceeded 65% among participants in the low and medium diet tertiles but was lower among those in the high diet tertile (45.5%). In adjusted analyses, higher diet quality scores were associated with lower odds of hypertension (OR = 0.90 per unit increase; 95% CI: 0.80–1.01). Older age was associated with higher odds of hypertension (OR = 1.03 per year). No evidence of problematic multicollinearity was observed among model covariates.</a:t>
              </a:r>
            </a:p>
            <a:p>
              <a:pPr>
                <a:lnSpc>
                  <a:spcPts val="6378"/>
                </a:lnSpc>
              </a:pPr>
              <a:endParaRPr lang="en-US" sz="5400" spc="47" dirty="0">
                <a:solidFill>
                  <a:srgbClr val="000000"/>
                </a:solidFill>
                <a:latin typeface="Calibri (MS)"/>
              </a:endParaRPr>
            </a:p>
            <a:p>
              <a:pPr>
                <a:lnSpc>
                  <a:spcPts val="6378"/>
                </a:lnSpc>
              </a:pPr>
              <a:endParaRPr lang="en-US" sz="5315" spc="47" dirty="0">
                <a:solidFill>
                  <a:srgbClr val="000000"/>
                </a:solidFill>
                <a:latin typeface="Calibri (MS)"/>
              </a:endParaRPr>
            </a:p>
            <a:p>
              <a:pPr algn="l">
                <a:lnSpc>
                  <a:spcPts val="6378"/>
                </a:lnSpc>
              </a:pPr>
              <a:endParaRPr lang="en-US" sz="5315" spc="47" dirty="0">
                <a:solidFill>
                  <a:srgbClr val="000000"/>
                </a:solidFill>
                <a:latin typeface="Calibri (MS)"/>
              </a:endParaRPr>
            </a:p>
            <a:p>
              <a:pPr algn="l">
                <a:lnSpc>
                  <a:spcPts val="6378"/>
                </a:lnSpc>
              </a:pPr>
              <a:endParaRPr lang="en-US" sz="5315" spc="47" dirty="0">
                <a:solidFill>
                  <a:srgbClr val="000000"/>
                </a:solidFill>
                <a:latin typeface="Calibri (MS)"/>
              </a:endParaRPr>
            </a:p>
            <a:p>
              <a:pPr algn="l">
                <a:lnSpc>
                  <a:spcPts val="6378"/>
                </a:lnSpc>
              </a:pPr>
              <a:endParaRPr lang="en-US" sz="5315" spc="47" dirty="0">
                <a:solidFill>
                  <a:srgbClr val="000000"/>
                </a:solidFill>
                <a:latin typeface="Calibri (MS)"/>
              </a:endParaRPr>
            </a:p>
            <a:p>
              <a:pPr algn="l">
                <a:lnSpc>
                  <a:spcPts val="6378"/>
                </a:lnSpc>
              </a:pPr>
              <a:endParaRPr lang="en-US" sz="5315" spc="47" dirty="0">
                <a:solidFill>
                  <a:srgbClr val="000000"/>
                </a:solidFill>
                <a:latin typeface="Calibri (MS)"/>
              </a:endParaRPr>
            </a:p>
            <a:p>
              <a:pPr algn="l">
                <a:lnSpc>
                  <a:spcPts val="6378"/>
                </a:lnSpc>
              </a:pPr>
              <a:endParaRPr lang="en-US" sz="5315" spc="47" dirty="0">
                <a:solidFill>
                  <a:srgbClr val="000000"/>
                </a:solidFill>
                <a:latin typeface="Calibri (MS)"/>
              </a:endParaRPr>
            </a:p>
          </p:txBody>
        </p:sp>
      </p:grpSp>
      <p:grpSp>
        <p:nvGrpSpPr>
          <p:cNvPr id="32" name="Group 32"/>
          <p:cNvGrpSpPr/>
          <p:nvPr/>
        </p:nvGrpSpPr>
        <p:grpSpPr>
          <a:xfrm>
            <a:off x="29159701" y="28066390"/>
            <a:ext cx="13962122" cy="3763476"/>
            <a:chOff x="0" y="0"/>
            <a:chExt cx="16547700" cy="4460416"/>
          </a:xfrm>
        </p:grpSpPr>
        <p:sp>
          <p:nvSpPr>
            <p:cNvPr id="33" name="Freeform 33"/>
            <p:cNvSpPr/>
            <p:nvPr/>
          </p:nvSpPr>
          <p:spPr>
            <a:xfrm>
              <a:off x="0" y="0"/>
              <a:ext cx="16547756" cy="4460406"/>
            </a:xfrm>
            <a:custGeom>
              <a:avLst/>
              <a:gdLst/>
              <a:ahLst/>
              <a:cxnLst/>
              <a:rect l="l" t="t" r="r" b="b"/>
              <a:pathLst>
                <a:path w="16547756" h="4460406">
                  <a:moveTo>
                    <a:pt x="0" y="0"/>
                  </a:moveTo>
                  <a:lnTo>
                    <a:pt x="16547756" y="0"/>
                  </a:lnTo>
                  <a:lnTo>
                    <a:pt x="16547756" y="4460406"/>
                  </a:lnTo>
                  <a:lnTo>
                    <a:pt x="0" y="4460406"/>
                  </a:lnTo>
                  <a:close/>
                </a:path>
              </a:pathLst>
            </a:custGeom>
            <a:solidFill>
              <a:srgbClr val="FFFFFF"/>
            </a:solidFill>
          </p:spPr>
          <p:txBody>
            <a:bodyPr/>
            <a:lstStyle/>
            <a:p>
              <a:endParaRPr lang="en-US"/>
            </a:p>
          </p:txBody>
        </p:sp>
        <p:sp>
          <p:nvSpPr>
            <p:cNvPr id="34" name="TextBox 34"/>
            <p:cNvSpPr txBox="1"/>
            <p:nvPr/>
          </p:nvSpPr>
          <p:spPr>
            <a:xfrm>
              <a:off x="0" y="-114300"/>
              <a:ext cx="16547700" cy="4574716"/>
            </a:xfrm>
            <a:prstGeom prst="rect">
              <a:avLst/>
            </a:prstGeom>
          </p:spPr>
          <p:txBody>
            <a:bodyPr lIns="57150" tIns="57150" rIns="57150" bIns="57150" rtlCol="0" anchor="t"/>
            <a:lstStyle/>
            <a:p>
              <a:pPr>
                <a:lnSpc>
                  <a:spcPts val="6378"/>
                </a:lnSpc>
              </a:pPr>
              <a:r>
                <a:rPr lang="en-US" sz="5315" spc="47" dirty="0">
                  <a:solidFill>
                    <a:srgbClr val="000000"/>
                  </a:solidFill>
                  <a:latin typeface="Calibri (MS)"/>
                </a:rPr>
                <a:t>We used Python for data analysis</a:t>
              </a:r>
              <a:endParaRPr lang="en-US" sz="5315" spc="49" dirty="0">
                <a:solidFill>
                  <a:srgbClr val="000000"/>
                </a:solidFill>
                <a:latin typeface="Calibri (MS)"/>
              </a:endParaRPr>
            </a:p>
            <a:p>
              <a:pPr algn="l">
                <a:lnSpc>
                  <a:spcPts val="6378"/>
                </a:lnSpc>
              </a:pPr>
              <a:endParaRPr lang="en-US" sz="5315" spc="49" dirty="0">
                <a:solidFill>
                  <a:srgbClr val="000000"/>
                </a:solidFill>
                <a:latin typeface="Calibri (MS)"/>
              </a:endParaRPr>
            </a:p>
          </p:txBody>
        </p:sp>
      </p:grpSp>
      <p:grpSp>
        <p:nvGrpSpPr>
          <p:cNvPr id="35" name="Group 35"/>
          <p:cNvGrpSpPr/>
          <p:nvPr/>
        </p:nvGrpSpPr>
        <p:grpSpPr>
          <a:xfrm>
            <a:off x="1029997" y="20888819"/>
            <a:ext cx="12229688" cy="10941048"/>
            <a:chOff x="0" y="0"/>
            <a:chExt cx="14494445" cy="12967168"/>
          </a:xfrm>
        </p:grpSpPr>
        <p:sp>
          <p:nvSpPr>
            <p:cNvPr id="36" name="Freeform 36"/>
            <p:cNvSpPr/>
            <p:nvPr/>
          </p:nvSpPr>
          <p:spPr>
            <a:xfrm>
              <a:off x="0" y="0"/>
              <a:ext cx="14494500" cy="12967137"/>
            </a:xfrm>
            <a:custGeom>
              <a:avLst/>
              <a:gdLst/>
              <a:ahLst/>
              <a:cxnLst/>
              <a:rect l="l" t="t" r="r" b="b"/>
              <a:pathLst>
                <a:path w="14494500" h="12967137">
                  <a:moveTo>
                    <a:pt x="0" y="0"/>
                  </a:moveTo>
                  <a:lnTo>
                    <a:pt x="14494500" y="0"/>
                  </a:lnTo>
                  <a:lnTo>
                    <a:pt x="14494500" y="12967137"/>
                  </a:lnTo>
                  <a:lnTo>
                    <a:pt x="0" y="12967137"/>
                  </a:lnTo>
                  <a:close/>
                </a:path>
              </a:pathLst>
            </a:custGeom>
            <a:solidFill>
              <a:srgbClr val="FFFFFF"/>
            </a:solidFill>
          </p:spPr>
          <p:txBody>
            <a:bodyPr/>
            <a:lstStyle/>
            <a:p>
              <a:endParaRPr lang="en-US"/>
            </a:p>
          </p:txBody>
        </p:sp>
        <p:sp>
          <p:nvSpPr>
            <p:cNvPr id="37" name="TextBox 37"/>
            <p:cNvSpPr txBox="1"/>
            <p:nvPr/>
          </p:nvSpPr>
          <p:spPr>
            <a:xfrm>
              <a:off x="0" y="-114300"/>
              <a:ext cx="14494445" cy="13081468"/>
            </a:xfrm>
            <a:prstGeom prst="rect">
              <a:avLst/>
            </a:prstGeom>
          </p:spPr>
          <p:txBody>
            <a:bodyPr lIns="57150" tIns="57150" rIns="57150" bIns="57150" rtlCol="0" anchor="t"/>
            <a:lstStyle/>
            <a:p>
              <a:pPr>
                <a:lnSpc>
                  <a:spcPts val="6378"/>
                </a:lnSpc>
              </a:pPr>
              <a:r>
                <a:rPr lang="en-US" sz="4800" dirty="0"/>
                <a:t>We conducted a cross-sectional analysis of 100 adults. Hypertension was defined as systolic blood pressure ≥130 mmHg or diastolic blood pressure ≥80 mmHg. Primary exposures included a continuous diet quality score and diet tertiles (low, medium, high). Descriptive statistics were used to characterize the sample. Logistic regression models estimated the association between diet quality and hypertension, adjusting for age, gender, race, education, income, body mass index (BMI), and waist circumference. Multicollinearity was assessed using variance inflation factors.</a:t>
              </a:r>
              <a:endParaRPr lang="en-US" sz="4800" spc="47" dirty="0">
                <a:solidFill>
                  <a:srgbClr val="000000"/>
                </a:solidFill>
                <a:latin typeface="Calibri (MS)"/>
              </a:endParaRPr>
            </a:p>
          </p:txBody>
        </p:sp>
      </p:grpSp>
      <p:grpSp>
        <p:nvGrpSpPr>
          <p:cNvPr id="38" name="Group 38"/>
          <p:cNvGrpSpPr/>
          <p:nvPr/>
        </p:nvGrpSpPr>
        <p:grpSpPr>
          <a:xfrm>
            <a:off x="1029997" y="8581611"/>
            <a:ext cx="12229688" cy="10063282"/>
            <a:chOff x="0" y="0"/>
            <a:chExt cx="14494445" cy="11926852"/>
          </a:xfrm>
        </p:grpSpPr>
        <p:sp>
          <p:nvSpPr>
            <p:cNvPr id="39" name="Freeform 39"/>
            <p:cNvSpPr/>
            <p:nvPr/>
          </p:nvSpPr>
          <p:spPr>
            <a:xfrm>
              <a:off x="0" y="0"/>
              <a:ext cx="14494500" cy="11926823"/>
            </a:xfrm>
            <a:custGeom>
              <a:avLst/>
              <a:gdLst/>
              <a:ahLst/>
              <a:cxnLst/>
              <a:rect l="l" t="t" r="r" b="b"/>
              <a:pathLst>
                <a:path w="14494500" h="11926823">
                  <a:moveTo>
                    <a:pt x="0" y="0"/>
                  </a:moveTo>
                  <a:lnTo>
                    <a:pt x="14494500" y="0"/>
                  </a:lnTo>
                  <a:lnTo>
                    <a:pt x="14494500" y="11926823"/>
                  </a:lnTo>
                  <a:lnTo>
                    <a:pt x="0" y="11926823"/>
                  </a:lnTo>
                  <a:close/>
                </a:path>
              </a:pathLst>
            </a:custGeom>
            <a:solidFill>
              <a:srgbClr val="FFFFFF"/>
            </a:solidFill>
          </p:spPr>
          <p:txBody>
            <a:bodyPr/>
            <a:lstStyle/>
            <a:p>
              <a:endParaRPr lang="en-US"/>
            </a:p>
          </p:txBody>
        </p:sp>
        <p:sp>
          <p:nvSpPr>
            <p:cNvPr id="40" name="TextBox 40"/>
            <p:cNvSpPr txBox="1"/>
            <p:nvPr/>
          </p:nvSpPr>
          <p:spPr>
            <a:xfrm>
              <a:off x="0" y="-114300"/>
              <a:ext cx="14494445" cy="12041152"/>
            </a:xfrm>
            <a:prstGeom prst="rect">
              <a:avLst/>
            </a:prstGeom>
          </p:spPr>
          <p:txBody>
            <a:bodyPr lIns="57150" tIns="57150" rIns="57150" bIns="57150" rtlCol="0" anchor="t"/>
            <a:lstStyle/>
            <a:p>
              <a:pPr>
                <a:lnSpc>
                  <a:spcPts val="6378"/>
                </a:lnSpc>
              </a:pPr>
              <a:r>
                <a:rPr lang="en-US" sz="4400" dirty="0"/>
                <a:t>Hypertension is a leading risk factor for cardiovascular disease and remains highly prevalent among adults worldwide. Dietary behaviors, including fruit, vegetable, and confectionary consumption, are modifiable factors that may influence blood pressure and cardiovascular risk. While individual dietary components have been studied extensively, less is known about how overall diet quality relates to hypertension prevalence. This study examines the association between dietary patterns and diet quality scores with hypertension in an adult population.</a:t>
              </a:r>
              <a:endParaRPr lang="en-US" sz="4400" spc="47" dirty="0">
                <a:solidFill>
                  <a:srgbClr val="000000"/>
                </a:solidFill>
                <a:latin typeface="Calibri (MS)"/>
              </a:endParaRPr>
            </a:p>
            <a:p>
              <a:pPr algn="l">
                <a:lnSpc>
                  <a:spcPts val="6378"/>
                </a:lnSpc>
              </a:pPr>
              <a:endParaRPr lang="en-US" sz="5315" spc="47" dirty="0">
                <a:solidFill>
                  <a:srgbClr val="000000"/>
                </a:solidFill>
                <a:latin typeface="Calibri (MS)"/>
              </a:endParaRPr>
            </a:p>
          </p:txBody>
        </p:sp>
      </p:grpSp>
      <p:sp>
        <p:nvSpPr>
          <p:cNvPr id="41" name="TextBox 41"/>
          <p:cNvSpPr txBox="1"/>
          <p:nvPr/>
        </p:nvSpPr>
        <p:spPr>
          <a:xfrm>
            <a:off x="5167117" y="748665"/>
            <a:ext cx="33556965" cy="3116238"/>
          </a:xfrm>
          <a:prstGeom prst="rect">
            <a:avLst/>
          </a:prstGeom>
        </p:spPr>
        <p:txBody>
          <a:bodyPr lIns="0" tIns="0" rIns="0" bIns="0" rtlCol="0" anchor="t">
            <a:spAutoFit/>
          </a:bodyPr>
          <a:lstStyle/>
          <a:p>
            <a:pPr algn="ctr">
              <a:lnSpc>
                <a:spcPts val="8100"/>
              </a:lnSpc>
            </a:pPr>
            <a:r>
              <a:rPr lang="en-US" sz="8000" dirty="0">
                <a:solidFill>
                  <a:schemeClr val="bg1"/>
                </a:solidFill>
                <a:latin typeface="Calibri (MS) Bold" panose="020B0604020202020204" charset="0"/>
                <a:cs typeface="Calibri (MS) Bold" panose="020B0604020202020204" charset="0"/>
              </a:rPr>
              <a:t>Diet Quality as a Predictor of Hypertension Risk</a:t>
            </a:r>
            <a:endParaRPr lang="en-US" sz="8000" spc="63" dirty="0">
              <a:solidFill>
                <a:schemeClr val="bg1"/>
              </a:solidFill>
              <a:latin typeface="Calibri (MS) Bold" panose="020B0604020202020204" charset="0"/>
              <a:cs typeface="Calibri (MS) Bold" panose="020B0604020202020204" charset="0"/>
            </a:endParaRPr>
          </a:p>
          <a:p>
            <a:pPr algn="ctr">
              <a:lnSpc>
                <a:spcPts val="8100"/>
              </a:lnSpc>
            </a:pPr>
            <a:r>
              <a:rPr lang="en-US" sz="6750" spc="63" dirty="0">
                <a:solidFill>
                  <a:srgbClr val="FFFFFF"/>
                </a:solidFill>
                <a:latin typeface="Calibri (MS) Bold"/>
              </a:rPr>
              <a:t>Temi Falae</a:t>
            </a:r>
          </a:p>
          <a:p>
            <a:pPr algn="ctr">
              <a:lnSpc>
                <a:spcPts val="8100"/>
              </a:lnSpc>
            </a:pPr>
            <a:r>
              <a:rPr lang="en-US" sz="6750" spc="63" dirty="0">
                <a:solidFill>
                  <a:srgbClr val="FFFFFF"/>
                </a:solidFill>
                <a:latin typeface="Calibri (MS) Bold"/>
              </a:rPr>
              <a:t>Rollins School </a:t>
            </a:r>
            <a:r>
              <a:rPr lang="en-US" sz="6750" spc="63">
                <a:solidFill>
                  <a:srgbClr val="FFFFFF"/>
                </a:solidFill>
                <a:latin typeface="Calibri (MS) Bold"/>
              </a:rPr>
              <a:t>of Public Health</a:t>
            </a:r>
            <a:endParaRPr lang="en-US" sz="6750" spc="63" dirty="0">
              <a:solidFill>
                <a:srgbClr val="FFFFFF"/>
              </a:solidFill>
              <a:latin typeface="Calibri (MS) Bold"/>
            </a:endParaRPr>
          </a:p>
        </p:txBody>
      </p:sp>
      <p:pic>
        <p:nvPicPr>
          <p:cNvPr id="1026" name="Picture 2">
            <a:extLst>
              <a:ext uri="{FF2B5EF4-FFF2-40B4-BE49-F238E27FC236}">
                <a16:creationId xmlns:a16="http://schemas.microsoft.com/office/drawing/2014/main" id="{258047C9-4ECD-89BB-84A6-336FAA1696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59371" y="16960579"/>
            <a:ext cx="9271533" cy="779478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C1CCEC1-395F-C58E-EF5A-9A76807645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54378" y="25218613"/>
            <a:ext cx="9271533" cy="58952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396</Words>
  <Application>Microsoft Office PowerPoint</Application>
  <PresentationFormat>Custom</PresentationFormat>
  <Paragraphs>25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Calibri (MS) Bold</vt:lpstr>
      <vt:lpstr>Calibri</vt:lpstr>
      <vt:lpstr>TT Rounds Condensed Bold</vt:lpstr>
      <vt:lpstr>Arial</vt:lpstr>
      <vt:lpstr>Calibri (MS)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URP Poster Template</dc:title>
  <cp:lastModifiedBy>Temi Falae</cp:lastModifiedBy>
  <cp:revision>2</cp:revision>
  <dcterms:created xsi:type="dcterms:W3CDTF">2006-08-16T00:00:00Z</dcterms:created>
  <dcterms:modified xsi:type="dcterms:W3CDTF">2025-12-12T20:21:45Z</dcterms:modified>
  <dc:identifier>DAGA6orcGMY</dc:identifier>
</cp:coreProperties>
</file>